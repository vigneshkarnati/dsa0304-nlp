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860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274320"/>
            <a:ext cx="1371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\d{3}-\d{4}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-914400" y="1600200"/>
            <a:ext cx="1371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^[A-Z][a-z]+$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-914400" y="2926080"/>
            <a:ext cx="1371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(GET|POST)\s\/\w+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-914400" y="4251960"/>
            <a:ext cx="1371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\w+@\w+\.\w+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-914400" y="5577840"/>
            <a:ext cx="1371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A2F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[ERROR|WARN]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EXPRESSIONS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Real-World </a:t>
            </a:r>
            <a:r>
              <a:rPr lang="en-US" sz="4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Processing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•  Extraction  •  Log Analysis  •  Information Retrieval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252A4D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091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5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^(</a:t>
            </a:r>
            <a:r>
              <a:rPr lang="en-US" sz="15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[A-Za-z0-9._%+-]+</a:t>
            </a:r>
            <a:r>
              <a:rPr lang="en-US" sz="15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)@(</a:t>
            </a:r>
            <a:r>
              <a:rPr lang="en-US" sz="15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[A-Za-z0-9.-]+</a:t>
            </a:r>
            <a:r>
              <a:rPr lang="en-US" sz="15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)$</a:t>
            </a:r>
            <a:r>
              <a:rPr lang="en-US" sz="150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342C8B-DAE1-C215-3DC1-4311E76A5499}"/>
              </a:ext>
            </a:extLst>
          </p:cNvPr>
          <p:cNvSpPr txBox="1"/>
          <p:nvPr/>
        </p:nvSpPr>
        <p:spPr>
          <a:xfrm>
            <a:off x="8145624" y="4709160"/>
            <a:ext cx="3508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K. Vignesh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192472154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that user input matches an expected shape before it enters a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5F6FA"/>
          </a:solidFill>
          <a:ln w="19050">
            <a:solidFill>
              <a:srgbClr val="00C2A8"/>
            </a:solidFill>
            <a:prstDash val="solid"/>
          </a:ln>
        </p:spPr>
      </p:sp>
      <p:pic>
        <p:nvPicPr>
          <p:cNvPr id="5" name="Image 0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211226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local-part, @, and domain segments are present and well-formed.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F5F6FA"/>
          </a:solidFill>
          <a:ln w="19050">
            <a:solidFill>
              <a:srgbClr val="00C2A8"/>
            </a:solidFill>
            <a:prstDash val="solid"/>
          </a:ln>
        </p:spPr>
      </p:sp>
      <p:pic>
        <p:nvPicPr>
          <p:cNvPr id="9" name="Image 1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32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34440" y="352958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country code, area code, and digit-group length rules.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F5F6FA"/>
          </a:solidFill>
          <a:ln w="19050">
            <a:solidFill>
              <a:srgbClr val="00C2A8"/>
            </a:solidFill>
            <a:prstDash val="solid"/>
          </a:ln>
        </p:spPr>
      </p:sp>
      <p:pic>
        <p:nvPicPr>
          <p:cNvPr id="13" name="Image 2" descr="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006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617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34440" y="494690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mixed case, a digit, and a symbol before an account is created.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623560" y="1783080"/>
            <a:ext cx="5989320" cy="109728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/>
        </p:spPr>
      </p:sp>
      <p:sp>
        <p:nvSpPr>
          <p:cNvPr id="17" name="Text 12"/>
          <p:cNvSpPr/>
          <p:nvPr/>
        </p:nvSpPr>
        <p:spPr>
          <a:xfrm>
            <a:off x="5852160" y="21671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^[\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]+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]+\.[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A-Za-z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]{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}$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23560" y="3200400"/>
            <a:ext cx="5989320" cy="109728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/>
        </p:spPr>
      </p:sp>
      <p:sp>
        <p:nvSpPr>
          <p:cNvPr id="19" name="Text 14"/>
          <p:cNvSpPr/>
          <p:nvPr/>
        </p:nvSpPr>
        <p:spPr>
          <a:xfrm>
            <a:off x="5852160" y="35844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^\+?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]?\(?\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}\)?[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]?\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]?\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}$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623560" y="4617720"/>
            <a:ext cx="5989320" cy="1097280"/>
          </a:xfrm>
          <a:prstGeom prst="roundRect">
            <a:avLst>
              <a:gd name="adj" fmla="val 6667"/>
            </a:avLst>
          </a:prstGeom>
          <a:solidFill>
            <a:srgbClr val="1B1F3B"/>
          </a:solidFill>
          <a:ln/>
        </p:spPr>
      </p:sp>
      <p:sp>
        <p:nvSpPr>
          <p:cNvPr id="21" name="Text 16"/>
          <p:cNvSpPr/>
          <p:nvPr/>
        </p:nvSpPr>
        <p:spPr>
          <a:xfrm>
            <a:off x="5852160" y="500176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^(?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a-z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])(?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A-Z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])(?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.*\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)(?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.*[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!@#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$]).{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8,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}$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input is rejected at the boundary — before it reaches a database or downstream service.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Extraction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Pulling structured fields out of unstructured or semi-structured documents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5F6FA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invoice 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 #</a:t>
            </a:r>
            <a:r>
              <a:rPr lang="en-US" sz="14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INV-20458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</a:t>
            </a:r>
            <a:r>
              <a:rPr lang="en-US" sz="14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</a:t>
            </a:r>
            <a:r>
              <a:rPr lang="en-US" sz="14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$1,284.50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Contact: </a:t>
            </a:r>
            <a:r>
              <a:rPr lang="en-US" sz="140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billing@acme.io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spans are exactly what capture groups pull out of the raw line.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5486400" cy="1005840"/>
          </a:xfrm>
          <a:prstGeom prst="roundRect">
            <a:avLst>
              <a:gd name="adj" fmla="val 7273"/>
            </a:avLst>
          </a:prstGeom>
          <a:solidFill>
            <a:srgbClr val="1B1F3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</a:t>
            </a:r>
            <a:r>
              <a:rPr lang="en-US" sz="14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r>
              <a:rPr lang="en-US" sz="14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4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*\$([\</a:t>
            </a:r>
            <a:r>
              <a:rPr lang="en-US" sz="14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d,</a:t>
            </a:r>
            <a:r>
              <a:rPr lang="en-US" sz="14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]+\.\</a:t>
            </a:r>
            <a:r>
              <a:rPr lang="en-US" sz="14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4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4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4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11810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31181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INV-\d{5}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84048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8953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date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0" y="389534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\d{4}-\d{2}-\d{2}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61772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67258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amount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0" y="46725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\$[\d,]+\.\d{2}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5394960"/>
            <a:ext cx="54864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1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54498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contact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0" y="54498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[\w.+-]+@[\w.-]+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parsing, and tallying events across large server or application logs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040880" cy="4160520"/>
          </a:xfrm>
          <a:prstGeom prst="roundRect">
            <a:avLst>
              <a:gd name="adj" fmla="val 1758"/>
            </a:avLst>
          </a:prstGeom>
          <a:solidFill>
            <a:srgbClr val="1B1F3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146304" cy="146304"/>
          </a:xfrm>
          <a:prstGeom prst="ellipse">
            <a:avLst/>
          </a:prstGeom>
          <a:solidFill>
            <a:srgbClr val="E94B3C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011680"/>
            <a:ext cx="146304" cy="146304"/>
          </a:xfrm>
          <a:prstGeom prst="ellipse">
            <a:avLst/>
          </a:prstGeom>
          <a:solidFill>
            <a:srgbClr val="F2C94C"/>
          </a:solidFill>
          <a:ln/>
        </p:spPr>
      </p:sp>
      <p:sp>
        <p:nvSpPr>
          <p:cNvPr id="7" name="Shape 5"/>
          <p:cNvSpPr/>
          <p:nvPr/>
        </p:nvSpPr>
        <p:spPr>
          <a:xfrm>
            <a:off x="1289304" y="201168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2316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2026-06-14T02:13:04Z </a:t>
            </a:r>
            <a:r>
              <a:rPr lang="en-US" sz="12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250" dirty="0">
                <a:solidFill>
                  <a:srgbClr val="C9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auth failed  user=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jdoe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898648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2026-06-14T02:13:07Z </a:t>
            </a:r>
            <a:r>
              <a:rPr lang="en-US" sz="1250" b="1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 </a:t>
            </a:r>
            <a:r>
              <a:rPr lang="en-US" sz="1250" dirty="0">
                <a:solidFill>
                  <a:srgbClr val="C9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retry limit  ip=</a:t>
            </a:r>
            <a:r>
              <a:rPr lang="en-US" sz="12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10.2.4.18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374136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2026-06-14T02:13:11Z </a:t>
            </a:r>
            <a:r>
              <a:rPr lang="en-US" sz="125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</a:t>
            </a:r>
            <a:r>
              <a:rPr lang="en-US" sz="1250" dirty="0">
                <a:solidFill>
                  <a:srgbClr val="C9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request  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/api/v2/orders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849624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5B6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2026-06-14T02:13:15Z </a:t>
            </a:r>
            <a:r>
              <a:rPr lang="en-US" sz="125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250" dirty="0">
                <a:solidFill>
                  <a:srgbClr val="C9CC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timeout  svc=</a:t>
            </a:r>
            <a:r>
              <a:rPr lang="en-US" sz="125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462272"/>
            <a:ext cx="6492240" cy="1051560"/>
          </a:xfrm>
          <a:prstGeom prst="roundRect">
            <a:avLst>
              <a:gd name="adj" fmla="val 5217"/>
            </a:avLst>
          </a:prstGeom>
          <a:solidFill>
            <a:srgbClr val="252A4D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5445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48280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^(\</a:t>
            </a:r>
            <a:r>
              <a:rPr lang="en-US" sz="13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+)\</a:t>
            </a:r>
            <a:r>
              <a:rPr lang="en-US" sz="13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+(</a:t>
            </a:r>
            <a:r>
              <a:rPr lang="en-US" sz="13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r>
              <a:rPr lang="en-US" sz="13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</a:t>
            </a: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)\</a:t>
            </a:r>
            <a:r>
              <a:rPr lang="en-US" sz="130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r>
              <a:rPr lang="en-US" sz="1300" dirty="0">
                <a:solidFill>
                  <a:srgbClr val="F2C9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+(.+)$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1874520"/>
            <a:ext cx="54864" cy="10515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1874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filtering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22219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every ERROR or WARN line for triage.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3246120"/>
            <a:ext cx="54864" cy="10515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3246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splitting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92440" y="35935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timestamp, level, and message into columns.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4617720"/>
            <a:ext cx="54864" cy="105156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2" name="Text 20"/>
          <p:cNvSpPr/>
          <p:nvPr/>
        </p:nvSpPr>
        <p:spPr>
          <a:xfrm>
            <a:off x="8092440" y="4617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counts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92440" y="496519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Tally matches per endpoint, user, or IP over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Retrieval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across large text collections for patterns rather than exact strings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252A4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grep -E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search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0358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gigabytes of text for a pattern in seconds, no index required.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252A4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&amp; replace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editing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0358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thousands of matches across a codebase in one pass.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252A4D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parsing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36676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03580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and normalize user queries before ranking results.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F123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572000"/>
            <a:ext cx="10424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compact pattern language — validation, extraction, log analysis, and search all reduce to matching text against a rule.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456</Words>
  <Application>Microsoft Office PowerPoint</Application>
  <PresentationFormat>Widescreen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VIOLET 9</cp:lastModifiedBy>
  <cp:revision>2</cp:revision>
  <dcterms:created xsi:type="dcterms:W3CDTF">2026-07-15T08:46:17Z</dcterms:created>
  <dcterms:modified xsi:type="dcterms:W3CDTF">2026-08-05T03:15:25Z</dcterms:modified>
</cp:coreProperties>
</file>